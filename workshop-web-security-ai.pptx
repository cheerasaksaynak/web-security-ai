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9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72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4107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1"/>
          <p:cNvSpPr/>
          <p:nvPr/>
        </p:nvSpPr>
        <p:spPr>
          <a:xfrm>
            <a:off x="736600" y="698500"/>
            <a:ext cx="4572000" cy="117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th-TH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การพัฒนาระบบสารสนเทศ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th-TH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อย่างมั่นคงปลอดภัยด้วย AI</a:t>
            </a:r>
          </a:p>
        </p:txBody>
      </p:sp>
      <p:sp>
        <p:nvSpPr>
          <p:cNvPr id="5" name="Text 2"/>
          <p:cNvSpPr/>
          <p:nvPr/>
        </p:nvSpPr>
        <p:spPr>
          <a:xfrm>
            <a:off x="736600" y="2050821"/>
            <a:ext cx="495300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Information Systems Development with AI-Powered Tools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B2105D-9017-4EE9-B455-C47ADF4B1B11}"/>
              </a:ext>
            </a:extLst>
          </p:cNvPr>
          <p:cNvSpPr txBox="1"/>
          <p:nvPr/>
        </p:nvSpPr>
        <p:spPr>
          <a:xfrm>
            <a:off x="736600" y="3873500"/>
            <a:ext cx="5080000" cy="86472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th-TH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นายจีรศักดิ์ สายนาค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นักวิชาการคอมพิวเตอร์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สำนักนวัตกรรมดิจิทัลและระบบอัจฉริยะ   มหาวิทยาลัยสงขลานครินทร์</a:t>
            </a:r>
          </a:p>
        </p:txBody>
      </p:sp>
      <p:pic>
        <p:nvPicPr>
          <p:cNvPr id="9" name="Graphic 9" descr="Artificial Intelligence icon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8400" y="584200"/>
            <a:ext cx="965200" cy="965200"/>
          </a:xfrm>
          <a:prstGeom prst="rect">
            <a:avLst/>
          </a:prstGeom>
        </p:spPr>
      </p:pic>
      <p:pic>
        <p:nvPicPr>
          <p:cNvPr id="10" name="Graphic 10" descr="Security shield tick icon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48400" y="1981200"/>
            <a:ext cx="965200" cy="965200"/>
          </a:xfrm>
          <a:prstGeom prst="rect">
            <a:avLst/>
          </a:prstGeom>
        </p:spPr>
      </p:pic>
      <p:pic>
        <p:nvPicPr>
          <p:cNvPr id="11" name="Graphic 11" descr="Laptop development icon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48400" y="3378200"/>
            <a:ext cx="965200" cy="965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673DD9D-88E4-4A86-91A1-5E42704E041A}"/>
              </a:ext>
            </a:extLst>
          </p:cNvPr>
          <p:cNvSpPr/>
          <p:nvPr/>
        </p:nvSpPr>
        <p:spPr>
          <a:xfrm>
            <a:off x="736600" y="2362200"/>
            <a:ext cx="3048000" cy="12700"/>
          </a:xfrm>
          <a:prstGeom prst="rect">
            <a:avLst/>
          </a:prstGeom>
          <a:solidFill>
            <a:srgbClr val="06B6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th-T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0C9E01-3886-4094-ACCE-BEF99F9F3B6A}"/>
              </a:ext>
            </a:extLst>
          </p:cNvPr>
          <p:cNvSpPr txBox="1"/>
          <p:nvPr/>
        </p:nvSpPr>
        <p:spPr>
          <a:xfrm>
            <a:off x="736600" y="2463800"/>
            <a:ext cx="4953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Workshop  |  </a:t>
            </a:r>
            <a:r>
              <a:rPr lang="th-TH" sz="1100">
                <a:solidFill>
                  <a:srgbClr val="94A3B8"/>
                </a:solidFill>
                <a:latin typeface="Calibri"/>
                <a:ea typeface="Calibri"/>
              </a:rPr>
              <a:t>บรรยาย + ปฏิบัติ  |  </a:t>
            </a: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GitHub Copilot + Next.js</a:t>
            </a:r>
            <a:endParaRPr lang="th-TH" sz="1100">
              <a:solidFill>
                <a:srgbClr val="94A3B8"/>
              </a:solidFill>
              <a:latin typeface="Calibri"/>
              <a:ea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43EA58-EAB2-41A4-B0D5-178A5F369680}"/>
              </a:ext>
            </a:extLst>
          </p:cNvPr>
          <p:cNvSpPr txBox="1"/>
          <p:nvPr/>
        </p:nvSpPr>
        <p:spPr>
          <a:xfrm>
            <a:off x="6197600" y="1600200"/>
            <a:ext cx="1066800" cy="177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ctr">
              <a:buNone/>
            </a:pPr>
            <a:r>
              <a:rPr lang="en-US" sz="1000" dirty="0">
                <a:solidFill>
                  <a:srgbClr val="7DD3FC"/>
                </a:solidFill>
                <a:latin typeface="Calibri" pitchFamily="34" charset="0"/>
              </a:rPr>
              <a:t>AI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AFE441-755F-452A-B1A9-3011898B1F3E}"/>
              </a:ext>
            </a:extLst>
          </p:cNvPr>
          <p:cNvSpPr txBox="1"/>
          <p:nvPr/>
        </p:nvSpPr>
        <p:spPr>
          <a:xfrm>
            <a:off x="6197600" y="2997200"/>
            <a:ext cx="1066800" cy="177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ctr">
              <a:buNone/>
            </a:pPr>
            <a:r>
              <a:rPr lang="en-US" sz="1000" dirty="0">
                <a:solidFill>
                  <a:srgbClr val="7DD3FC"/>
                </a:solidFill>
                <a:latin typeface="Calibri" pitchFamily="34" charset="0"/>
              </a:rPr>
              <a:t>Security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6EF978-71CE-4592-8AD0-B28B33DD1A8C}"/>
              </a:ext>
            </a:extLst>
          </p:cNvPr>
          <p:cNvSpPr txBox="1"/>
          <p:nvPr/>
        </p:nvSpPr>
        <p:spPr>
          <a:xfrm>
            <a:off x="6197600" y="4394200"/>
            <a:ext cx="1066800" cy="177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ctr">
              <a:buNone/>
            </a:pPr>
            <a:r>
              <a:rPr lang="en-US" sz="1000" dirty="0">
                <a:solidFill>
                  <a:srgbClr val="7DD3FC"/>
                </a:solidFill>
                <a:latin typeface="Calibri" pitchFamily="34" charset="0"/>
              </a:rPr>
              <a:t>Dev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FABC38-737C-4AA2-ACE9-F25C52280A71}"/>
              </a:ext>
            </a:extLst>
          </p:cNvPr>
          <p:cNvSpPr/>
          <p:nvPr/>
        </p:nvSpPr>
        <p:spPr>
          <a:xfrm>
            <a:off x="736600" y="3797300"/>
            <a:ext cx="2794000" cy="12700"/>
          </a:xfrm>
          <a:prstGeom prst="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50814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เล่าประสบการณ์ Web Developer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508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เส้นทาง ปัญหาที่เจอ บทเรียนด้าน Security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0" y="1325880"/>
            <a:ext cx="1645920" cy="3200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1325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บรรยาย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Web Development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1031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JS, HTTP, Client-Server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0" y="1920240"/>
            <a:ext cx="1645920" cy="3200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บรรยาย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468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Security Essentials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697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10, XSS, SQL Injection, CSRF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2514600"/>
            <a:ext cx="1645920" cy="320040"/>
          </a:xfrm>
          <a:prstGeom prst="rect">
            <a:avLst/>
          </a:prstGeom>
          <a:solidFill>
            <a:srgbClr val="164E63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2514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บรรยาย + Workshop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Web Dev with Next.js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2918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Components, Routing, API Routes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0" y="3108960"/>
            <a:ext cx="1645920" cy="320040"/>
          </a:xfrm>
          <a:prstGeom prst="rect">
            <a:avLst/>
          </a:prstGeom>
          <a:solidFill>
            <a:srgbClr val="164E63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3108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บรรยาย + Workshop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3657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7160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Development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3886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Prompting Strategies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0" y="3703320"/>
            <a:ext cx="1645920" cy="320040"/>
          </a:xfrm>
          <a:prstGeom prst="rect">
            <a:avLst/>
          </a:prstGeom>
          <a:solidFill>
            <a:srgbClr val="164E63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3703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4251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7160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Deploy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371600" y="4480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สร้างเว็บแอปจริง + Deploy บน GitHub Pages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58000" y="4297680"/>
            <a:ext cx="1645920" cy="320040"/>
          </a:xfrm>
          <a:prstGeom prst="rect">
            <a:avLst/>
          </a:prstGeom>
          <a:solidFill>
            <a:srgbClr val="164E63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4297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ประสบการณ์ Web Developer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เส้นทางอาชีพ บทเรียน และความท้าทายด้าน Security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เส้นทาง Web Developer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97280" y="2560320"/>
            <a:ext cx="694944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37360" y="242316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554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เริ่มต้น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เรียนรู้ HTML/CSS/JS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สร้างเว็บไซต์แรก เรียนรู้ผ่าน trial &amp; error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703320" y="242316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3063240" y="1554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เติบโต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6324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Database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80360" y="3246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PHP, Node.js, MySQL, MongoDB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0" y="242316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554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มืออาชีพ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&amp; Architecture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3246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Next.js, REST API, CI/CD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635240" y="242316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6995160" y="1554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ปัจจุบัน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9516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Development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12280" y="3246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Copilot, ChatGPT, Secure by Design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— ประสบการณ์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บทเรียนด้าน Security จากประสบการณ์จริง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5087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ที่เจอครั้งแรก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645920" y="1737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เว็บโดน hack จากช่องโหว่ SQL Injection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ที่ไม่เคยรู้จักมาก่อน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846320" y="1188720"/>
            <a:ext cx="365760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5087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6072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จาก Comment System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760720" y="1737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ผู้ใช้แทรก script ผ่านช่อง comment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ที่ไม่ได้ทำ sanitization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731520" y="2926080"/>
            <a:ext cx="365760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24612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45920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เก็บเป็น Plain Text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645920" y="34747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ฐานข้อมูลหลุด ข้อมูลผู้ใช้ทั้งหมด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ถูกเปิดเผย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846320" y="2926080"/>
            <a:ext cx="365760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324612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760720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หลุดใน GitHub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5760720" y="34747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ลืมใส่ .gitignore ทำให้ API key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ถูกเผยแพร่สาธารณะ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— ประสบการณ์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097280"/>
            <a:ext cx="6400800" cy="2926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371600" y="1097280"/>
            <a:ext cx="54864" cy="29260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13716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“Security ไม่ใช่สิ่งที่เพิ่มทีหลัง</a:t>
            </a:r>
            <a:endParaRPr lang="en-US" sz="2600" dirty="0"/>
          </a:p>
          <a:p>
            <a:pPr marL="0" indent="0">
              <a:buNone/>
            </a:pPr>
            <a:r>
              <a:rPr lang="en-US" sz="2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มันต้อง built-in ตั้งแต่ต้น”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บทเรียนสำคัญที่สุดจากประสบการณ์ทำงาน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— ประสบการณ์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Development Fundamentals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พื้นฐานที่ต้องรู้ก่อนพูดถึง Security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Web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292608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6459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286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(Browser)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97280" y="26517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โครงสร้างหน้าเว็บ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ความสวยงาม ธีม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ฟังก์ชันการทำงาน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749040" y="21945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→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HTTP Response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749040" y="2377440"/>
            <a:ext cx="164592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749040" y="2743200"/>
            <a:ext cx="164592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0" y="1463040"/>
            <a:ext cx="292608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64592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2286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(Backend)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852160" y="26517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จัดการ request/response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เก็บข้อมูล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ยืนยันตัวตน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— Fundamentals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Technologies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2468880" cy="29260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246888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554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HTML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1920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markup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SEO-friendly structure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1280160"/>
            <a:ext cx="2468880" cy="29260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66160" y="1280160"/>
            <a:ext cx="24688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1554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840480" y="2194560"/>
            <a:ext cx="1920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&amp; Grid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Variables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280160"/>
            <a:ext cx="2468880" cy="29260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0" y="1280160"/>
            <a:ext cx="24688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1554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JavaScript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75120" y="2194560"/>
            <a:ext cx="1920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Manipulation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ES6+ Features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— Fundamentals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HTTP &amp; Security พื้นฐาน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840480" cy="320040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05840" y="1920240"/>
            <a:ext cx="1097280" cy="320040"/>
          </a:xfrm>
          <a:prstGeom prst="rect">
            <a:avLst/>
          </a:prstGeom>
          <a:solidFill>
            <a:srgbClr val="164E6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20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0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ดึงข้อมูล (อ่านอย่างเดียว)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0" y="2468880"/>
            <a:ext cx="1097280" cy="320040"/>
          </a:xfrm>
          <a:prstGeom prst="rect">
            <a:avLst/>
          </a:prstGeom>
          <a:solidFill>
            <a:srgbClr val="164E63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468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สร้างข้อมูลใหม่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3017520"/>
            <a:ext cx="1097280" cy="320040"/>
          </a:xfrm>
          <a:prstGeom prst="rect">
            <a:avLst/>
          </a:prstGeom>
          <a:solidFill>
            <a:srgbClr val="164E6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017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PUT/PATCH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3017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แก้ไขข้อมูล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3566160"/>
            <a:ext cx="1097280" cy="320040"/>
          </a:xfrm>
          <a:prstGeom prst="rect">
            <a:avLst/>
          </a:prstGeom>
          <a:solidFill>
            <a:srgbClr val="164E63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566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ลบข้อมูล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1188720"/>
            <a:ext cx="3840480" cy="320040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12064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= HTTP + TLS</a:t>
            </a:r>
            <a:endParaRPr lang="en-US" sz="16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11680"/>
            <a:ext cx="731520" cy="7315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120640" y="29260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เข้ารหัสข้อมูลระหว่างทาง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ป้องกันการดักฟัง (MITM)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ยืนยันตัวตนของเซิร์ฟเวอร์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จำเป็นสำหรับทุกเว็บไซต์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— Fundamentals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Security Essentials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และช่องโหว่ที่ต้องรู้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OWASP Top 10 — 2021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ช่องโหว่ด้านความปลอดภัยที่พบบ่อยที่สุดในเว็บแอปพลิเคชัน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840480" cy="548640"/>
          </a:xfrm>
          <a:prstGeom prst="rect">
            <a:avLst/>
          </a:prstGeom>
          <a:solidFill>
            <a:srgbClr val="164E6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34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 — Broken Access Control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947672"/>
            <a:ext cx="3840480" cy="548640"/>
          </a:xfrm>
          <a:prstGeom prst="rect">
            <a:avLst/>
          </a:prstGeom>
          <a:solidFill>
            <a:srgbClr val="164E6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4767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A02 — Cryptographic Failures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660904"/>
            <a:ext cx="3840480" cy="548640"/>
          </a:xfrm>
          <a:prstGeom prst="rect">
            <a:avLst/>
          </a:prstGeom>
          <a:solidFill>
            <a:srgbClr val="164E63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66090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A03 — Injection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374136"/>
            <a:ext cx="384048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37413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A04 — Insecure Design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087368"/>
            <a:ext cx="384048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087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 — Security Misconfiguration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1234440"/>
            <a:ext cx="384048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234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A06 — Vulnerable Components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1947672"/>
            <a:ext cx="384048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194767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A07 — Auth Failures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2660904"/>
            <a:ext cx="384048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266090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A08 — Data Integrity Failures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3374136"/>
            <a:ext cx="384048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337413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A09 — Logging Failures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4087368"/>
            <a:ext cx="384048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4087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 — SSRF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เราจะเน้น A01, A03, A07 ในเวิร์คชอปนี้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— Security Essentials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Injection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1148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1097280"/>
            <a:ext cx="7680960" cy="1280160"/>
          </a:xfrm>
          <a:prstGeom prst="rect">
            <a:avLst/>
          </a:prstGeom>
          <a:solidFill>
            <a:srgbClr val="2D1B1B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1143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VULNERABLE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914400" y="14173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= f"SELECT * FROM users WHERE id = {user_input}"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cursor.execute(query)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1520" y="2651760"/>
            <a:ext cx="7680960" cy="1280160"/>
          </a:xfrm>
          <a:prstGeom prst="rect">
            <a:avLst/>
          </a:prstGeom>
          <a:solidFill>
            <a:srgbClr val="0F2818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" y="29718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cursor.execute(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"SELECT * FROM users WHERE id = %s", (user_input,)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Parameterized Queries เสมอ — ห้ามใช้ string concatenation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— Security Essentials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Cross-Site Scripting (XSS)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46888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246888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17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Reflected XSS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ใน URL ถูกสะท้อน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กลับมาในหน้าเว็บ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66160" y="1188720"/>
            <a:ext cx="246888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66160" y="1188720"/>
            <a:ext cx="24688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1417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XSS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49040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ถูกเก็บในฐานข้อมูล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แสดงผลให้ผู้ใช้อื่น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0" y="1188720"/>
            <a:ext cx="246888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0" y="1188720"/>
            <a:ext cx="246888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417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DOM-based XSS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อ่าน input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แล้วเขียนลง DOM โดยไม่ escape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108960"/>
            <a:ext cx="7680960" cy="1463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การป้องกัน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56616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Encoding —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ข้อมูลก่อนแสดงผลเสมอ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Security Policy —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จำกัด source ของ script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DOMPurify —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 HTML ที่ต้องรับจากผู้ใช้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— Security Essentials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 &amp; CSRF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84048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Storage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05840" y="1828800"/>
            <a:ext cx="3291840" cy="640080"/>
          </a:xfrm>
          <a:prstGeom prst="rect">
            <a:avLst/>
          </a:prstGeom>
          <a:solidFill>
            <a:srgbClr val="2D1B1B"/>
          </a:solidFill>
          <a:ln/>
        </p:spPr>
      </p:sp>
      <p:sp>
        <p:nvSpPr>
          <p:cNvPr id="7" name="Text 4"/>
          <p:cNvSpPr/>
          <p:nvPr/>
        </p:nvSpPr>
        <p:spPr>
          <a:xfrm>
            <a:off x="1188720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MD5 / SHA-1 / Plain Text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4747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05840" y="2651760"/>
            <a:ext cx="3291840" cy="640080"/>
          </a:xfrm>
          <a:prstGeom prst="rect">
            <a:avLst/>
          </a:prstGeom>
          <a:solidFill>
            <a:srgbClr val="0F2818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2651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bcrypt / Argon2id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47472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05840" y="3566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bcrypt.hash(password, 12)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2801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7784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Protection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120640" y="182880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Token
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token สุ่มต่อ session
ส่งพร้อม form submission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SameSite Cookie
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ตั้ง SameSite=Lax
ป้องกัน cross-origin request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Headers
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ที่ใช้ Bearer token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ปลอดภัยจาก CSRF โดยธรรมชาติ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— Security Essentials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Workshop 1: Security Code Review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สิ่งที่จะทำ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โค้ดตัวอย่างที่มีช่องโหว่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ระบุประเภทช่องโหว่ (SQLi, XSS, CSRF)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เขียน fix พร้อมอธิบาย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Prompt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3474720"/>
            <a:ext cx="713232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5204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"Review this code for security vulnerabilities.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Identify each issue, explain the risk, and suggest a fix."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Web Dev with Next.js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Components, Routing, SSR/SSG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ทำไมต้อง Next.js?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46888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4173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371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Rendering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60120" y="1828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ดี, โหลดเร็ว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566160" y="1188720"/>
            <a:ext cx="246888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141732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06240" y="1371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Routing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794760" y="1828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สร้างไฟล์ = สร้าง route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400800" y="1188720"/>
            <a:ext cx="246888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14173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40880" y="1371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629400" y="1828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ในตัว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ไม่ต้องแยก server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31520" y="3017520"/>
            <a:ext cx="246888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32461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3200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Export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960120" y="3657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ได้ทุกที่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รวมถึง GitHub Pages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566160" y="3017520"/>
            <a:ext cx="246888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4760" y="32461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206240" y="3200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Ecosystem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3794760" y="3657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ได้ง่าย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6400800" y="3017520"/>
            <a:ext cx="246888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324612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040880" y="3200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Security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6629400" y="3657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XSS protection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CSP, Headers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— Next.js</a:t>
            </a:r>
            <a:endParaRPr lang="en-US" sz="800" dirty="0"/>
          </a:p>
        </p:txBody>
      </p:sp>
      <p:sp>
        <p:nvSpPr>
          <p:cNvPr id="29" name="Text 2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Next.js Project Structure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411480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Structure (App Router)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my-app/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layout.tsx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page.tsx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about/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page.tsx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api/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hello/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└── route.ts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public/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next.config.js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package.json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120640" y="1097280"/>
            <a:ext cx="347472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9496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สิ่งที่ต้องรู้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94960" y="164592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page.tsx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หน้าเว็บ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layout.tsx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โครงร่างหน้า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route.ts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API endpoint
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โฟลเดอร์ = URL path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app/about/page.tsx
→ /about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app/api/hello/route.ts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/api/hello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— Next.js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Components 101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280160"/>
            <a:ext cx="7132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Card({ title, description })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className="card"&gt;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&lt;h2&gt;{title}&lt;/h2&gt;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&lt;p&gt;{description}&lt;/p&gt;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Usage: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&lt;Card title="สวัสดี" description="นี่คือ component" /&gt;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— Next.js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Workshop 2: สร้าง Next.js App แรก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68096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create-next-app@latest my-secure-app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สร้างโปรเจกต์ใหม่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768096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24028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my-secure-app &amp;&amp; npm run dev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 development server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108960"/>
            <a:ext cx="768096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10896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แก้ไข app/page.tsx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สร้างหน้า Home ด้วย Copilot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977640"/>
            <a:ext cx="768096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97764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สร้าง app/about/page.tsx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2880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เพิ่มหน้า About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Copilot Prompts สำหรับ Workshop 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Layout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768096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"Create a Next.js root layout with a navigation bar containing links to Home and About pages. Use Tailwind CSS."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Home Page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768096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8346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"Create a responsive hero section for the home page with a title, description, and call-to-action button using Tailwind CSS."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About Page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0233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"Create an About page component with team member cards in a grid layout. Each card has name, role, and description."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Development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GitHub Copilot อย่างมีประสิทธิภาพ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Copilot คืออะไร?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37160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Pair Programmer ที่ทำงานร่วมกับคุณใน VS Code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ช่วยเขียนโค้ด แนะนำ และ review ให้อัตโนมัติ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246888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Completion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3520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เขียนโค้ดให้อัตโนมัติ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จาก context รอบข้าง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2926080"/>
            <a:ext cx="246888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9476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94760" y="3520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ถามคำถาม อธิบายโค้ด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สร้างโค้ดจาก prompt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2926080"/>
            <a:ext cx="246888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2940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Suggestions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29400" y="3520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แนะนำโค้ดแบบ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ขณะพิมพ์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— AI-Powered Dev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Prompting Strategies for Copilot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1417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บอกภาษา, framework, library ที่ต้องการ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 Next.js API route using Prisma ORM..."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768096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57400"/>
            <a:ext cx="54864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0574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Context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2377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อธิบาย project structure, data model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"Given a User model with email and password fields..."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768096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017520"/>
            <a:ext cx="54864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0175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Security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54480" y="33375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ระบุให้ Copilot คิดเรื่อง security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"...with input validation and SQL injection prevention"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977640"/>
            <a:ext cx="768096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97764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9776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&amp; Refine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54480" y="42976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ถามต่อเพื่อปรับปรุง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rate limiting and error handling to this endpoint"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— AI-Powered Dev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Security-Focused Copilot Prompts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645920" cy="777240"/>
          </a:xfrm>
          <a:prstGeom prst="rect">
            <a:avLst/>
          </a:prstGeom>
          <a:solidFill>
            <a:srgbClr val="164E6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0" y="1097280"/>
            <a:ext cx="585216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0" y="10972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Zod schema validation to this API route.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 requests that don't match the schema.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1645920" cy="777240"/>
          </a:xfrm>
          <a:prstGeom prst="rect">
            <a:avLst/>
          </a:prstGeom>
          <a:solidFill>
            <a:srgbClr val="164E6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5740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Middleware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2057400"/>
            <a:ext cx="585216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20574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a Next.js middleware that verifies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 tokens and redirects unauthorized users.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1645920" cy="777240"/>
          </a:xfrm>
          <a:prstGeom prst="rect">
            <a:avLst/>
          </a:prstGeom>
          <a:solidFill>
            <a:srgbClr val="164E6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0175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3017520"/>
            <a:ext cx="585216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30175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security headers (CSP, HSTS, X-Frame-Options)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next.config.js using the headers() function.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977640"/>
            <a:ext cx="1645920" cy="777240"/>
          </a:xfrm>
          <a:prstGeom prst="rect">
            <a:avLst/>
          </a:prstGeom>
          <a:solidFill>
            <a:srgbClr val="164E6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9776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0" y="3977640"/>
            <a:ext cx="585216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39776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 rate limiting for the login API route.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5 attempts per IP per 15 minutes.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— AI-Powered Dev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Workshop 3: Secure Feature with Copilot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320040" cy="3200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Contact Form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1645920"/>
            <a:ext cx="6858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164592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a contact form page with name, email, message fields using React Hook Form + Zod validation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22960" y="2331720"/>
            <a:ext cx="320040" cy="3200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331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API Route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371600" y="2560320"/>
            <a:ext cx="6858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256032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a Next.js API route for the contact form with input sanitization and rate limiting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22960" y="3246120"/>
            <a:ext cx="320040" cy="3200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Security Headers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371600" y="3474720"/>
            <a:ext cx="6858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1554480" y="347472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Content-Security-Policy and other security headers to next.config.js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22960" y="4160520"/>
            <a:ext cx="320040" cy="3200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160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Harden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371600" y="4389120"/>
            <a:ext cx="6858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1554480" y="438912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this Next.js app for security vulnerabilities and suggest improvements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&amp; Deploy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เว็บแอปบน GitHub Pages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Next.js Static Export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สำหรับ deploy บน GitHub Pages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next.config.js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7132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/** @type {import('next').NextConfig}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nextConfig =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output: 'export',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basePath: '/my-secure-app',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images: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unoptimized: true,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Security headers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headers()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source: '/(.*)',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headers: 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 key: 'X-Frame-Options', value: 'DENY'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 key: 'X-Content-Type-Options',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value: 'nosniff'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module.exports = nextConfig;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— Build &amp; Deploy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Actions — Auto Deploy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463040" cy="7315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2801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20240" y="128016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94560" y="1280160"/>
            <a:ext cx="1463040" cy="7315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94560" y="12801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0" y="128016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31920" y="1280160"/>
            <a:ext cx="1463040" cy="7315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31920" y="12801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build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94960" y="128016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0" y="1280160"/>
            <a:ext cx="1463040" cy="7315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0" y="12801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 Pages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0" y="128016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06640" y="1280160"/>
            <a:ext cx="1463040" cy="731520"/>
          </a:xfrm>
          <a:prstGeom prst="rect">
            <a:avLst/>
          </a:prstGeom>
          <a:solidFill>
            <a:srgbClr val="06B6D4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06640" y="12801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Live!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Prompt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2743200"/>
            <a:ext cx="768096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283464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"Create a GitHub Actions workflow file that: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Triggers on push to main branch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Installs dependencies and builds the Next.js app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Deploys the static export to GitHub Pages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Include caching for node_modules"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— Build &amp; Deploy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Workshop 4: Deploy to GitHub Pages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371600"/>
            <a:ext cx="320040" cy="3200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298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GitHub Repository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0" y="1280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สร้าง repo ใหม่บน github.com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320040" cy="3200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103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2029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โค้ด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0" y="20116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 &amp;&amp; git add . &amp;&amp; git commit -m 'init'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2834640"/>
            <a:ext cx="320040" cy="3200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834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2761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ตั้งค่า GitHub Pages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0" y="2743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 → Pages → Source: GitHub Actions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3566160"/>
            <a:ext cx="320040" cy="3200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3493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Workflow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0" y="34747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ใช้ Copilot สร้าง .github/workflows/deploy.yml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" y="4297680"/>
            <a:ext cx="320040" cy="3200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297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1600" y="4224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Test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40480" y="4206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เปิด URL → ตรวจสอบ Security Headers → ทดสอบ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Checklist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สิ่งที่ต้องตรวจสอบก่อน deploy ทุกครั้ง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353312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34440" y="1280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ทุก endpoint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011680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34440" y="19385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 / ORM</a:t>
            </a:r>
            <a:endParaRPr lang="en-US" sz="12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670048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234440" y="25968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encoding (XSS prevention)</a:t>
            </a:r>
            <a:endParaRPr lang="en-US" sz="12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328416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234440" y="325526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protection</a:t>
            </a:r>
            <a:endParaRPr lang="en-US" sz="12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986784"/>
            <a:ext cx="274320" cy="27432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234440" y="39136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 (CSP, HSTS, etc.)</a:t>
            </a:r>
            <a:endParaRPr lang="en-US" sz="12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353312"/>
            <a:ext cx="274320" cy="27432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440680" y="1280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everywhere</a:t>
            </a:r>
            <a:endParaRPr lang="en-US" sz="12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011680"/>
            <a:ext cx="274320" cy="27432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5440680" y="19385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ไม่อยู่ใน repo</a:t>
            </a:r>
            <a:endParaRPr lang="en-US" sz="120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670048"/>
            <a:ext cx="274320" cy="274320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5440680" y="25968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อัพเดท (npm audit)</a:t>
            </a:r>
            <a:endParaRPr lang="en-US" sz="1200" dirty="0"/>
          </a:p>
        </p:txBody>
      </p:sp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328416"/>
            <a:ext cx="274320" cy="274320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5440680" y="325526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on auth endpoints</a:t>
            </a:r>
            <a:endParaRPr lang="en-US" sz="1200" dirty="0"/>
          </a:p>
        </p:txBody>
      </p:sp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986784"/>
            <a:ext cx="274320" cy="274320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5440680" y="39136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ไม่ leak ข้อมูลภายใน</a:t>
            </a:r>
            <a:endParaRPr lang="en-US" sz="1200" dirty="0"/>
          </a:p>
        </p:txBody>
      </p:sp>
      <p:sp>
        <p:nvSpPr>
          <p:cNvPr id="25" name="Shape 12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6" name="Text 1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Checklist</a:t>
            </a:r>
            <a:endParaRPr lang="en-US" sz="800" dirty="0"/>
          </a:p>
        </p:txBody>
      </p:sp>
      <p:sp>
        <p:nvSpPr>
          <p:cNvPr id="27" name="Text 1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84048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5544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14173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ต้อง built-in ตั้งแต่เริ่ม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ไม่ใช่เพิ่มทีหลัง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937760" y="1188720"/>
            <a:ext cx="384048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55448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52160" y="14173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(Copilot) ช่วยเร่งงาน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แต่ต้อง review ผลลัพธ์เสมอ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731520" y="2926080"/>
            <a:ext cx="384048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29184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45920" y="31546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มี security features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ในตัว — ใช้ให้เป็นประโยชน์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937760" y="2926080"/>
            <a:ext cx="384048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0" y="329184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852160" y="31546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ช่วยให้ deploy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อย่างปลอดภัยและสม่ำเสมอ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800" dirty="0"/>
          </a:p>
        </p:txBody>
      </p:sp>
      <p:sp>
        <p:nvSpPr>
          <p:cNvPr id="17" name="Text 1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3840480" y="2560320"/>
            <a:ext cx="146304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ถาม-ตอบ และแลกเปลี่ยนความคิดเห็น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7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22B262F-F103-4966-8423-37EB4D04C425}">
  <we:reference id="wa200010001" version="1.0.0.1" store="en-US" storeType="OMEX"/>
  <we:alternateReferences>
    <we:reference id="wa200010001" version="1.0.0.1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2012</Words>
  <Application>Microsoft Office PowerPoint</Application>
  <PresentationFormat>On-screen Show (16:9)</PresentationFormat>
  <Paragraphs>478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การพัฒนาระบบสารสนเทศอย่างมั่นคงปลอดภัยด้วย AI</dc:title>
  <dc:subject>PptxGenJS Presentation</dc:subject>
  <dc:creator>Web Security Workshop</dc:creator>
  <cp:lastModifiedBy>Cheerasak Saynak (จีรศักดิ์ สายนาค)</cp:lastModifiedBy>
  <cp:revision>2</cp:revision>
  <dcterms:created xsi:type="dcterms:W3CDTF">2026-03-26T14:48:01Z</dcterms:created>
  <dcterms:modified xsi:type="dcterms:W3CDTF">2026-03-26T15:41:40Z</dcterms:modified>
</cp:coreProperties>
</file>